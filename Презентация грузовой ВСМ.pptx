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77" r:id="rId4"/>
    <p:sldId id="263" r:id="rId5"/>
    <p:sldId id="279" r:id="rId6"/>
    <p:sldId id="280" r:id="rId7"/>
    <p:sldId id="264" r:id="rId8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Medium" panose="020B0604020202020204" charset="0"/>
      <p:regular r:id="rId15"/>
      <p:italic r:id="rId16"/>
    </p:embeddedFont>
    <p:embeddedFont>
      <p:font typeface="Raleway" pitchFamily="2" charset="-52"/>
      <p:regular r:id="rId17"/>
      <p:bold r:id="rId18"/>
      <p: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5AB8"/>
    <a:srgbClr val="003D84"/>
    <a:srgbClr val="CEE1FF"/>
    <a:srgbClr val="F4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376"/>
    <p:restoredTop sz="89577"/>
  </p:normalViewPr>
  <p:slideViewPr>
    <p:cSldViewPr snapToGrid="0" showGuides="1">
      <p:cViewPr varScale="1">
        <p:scale>
          <a:sx n="74" d="100"/>
          <a:sy n="74" d="100"/>
        </p:scale>
        <p:origin x="336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87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A1B96E6-2FD1-CE95-78C2-8DD8C88B31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112A4E-8F47-67C5-1951-B9BB4E182F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89985-6723-F442-9802-79B1B087905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A8BC1E-6598-EDA1-07B0-9E1130671D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998CBA-5E3E-578A-473C-016E772F2A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47EA0-2AF5-3540-B6EA-9A0DDF2C0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2814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EC27D-F687-3E4F-9C27-4FDF1CF739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5712F-ED1E-0F4B-AD6F-DD6E78697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181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светлый титульный слайд. Выберите один, а другой удалите.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712F-ED1E-0F4B-AD6F-DD6E78697B5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557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элементы, которыми можно воспользоваться для обособления пунктов.</a:t>
            </a:r>
          </a:p>
          <a:p>
            <a:r>
              <a:rPr lang="ru-RU" dirty="0"/>
              <a:t>Нужно скопировать необходимый элемент на пустой слайд, а в конце не забыть удалить этот слайд с образцом.</a:t>
            </a:r>
            <a:br>
              <a:rPr lang="ru-RU" dirty="0"/>
            </a:br>
            <a:r>
              <a:rPr lang="ru-RU" dirty="0"/>
              <a:t>Для изменения размера элемента рекомендуется его разгруппировать.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712F-ED1E-0F4B-AD6F-DD6E78697B5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768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957AA-44C3-2C4E-BFC7-FC4F6DEB1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5BC5BA0-5CA0-F315-37E4-0E8F62CDC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24B5E33-0DBD-9055-6998-D1A153C7D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элементы, которыми можно воспользоваться для обособления пунктов.</a:t>
            </a:r>
          </a:p>
          <a:p>
            <a:r>
              <a:rPr lang="ru-RU" dirty="0"/>
              <a:t>Нужно скопировать необходимый элемент на пустой слайд, а в конце не забыть удалить этот слайд с образцом.</a:t>
            </a:r>
            <a:br>
              <a:rPr lang="ru-RU" dirty="0"/>
            </a:br>
            <a:r>
              <a:rPr lang="ru-RU" dirty="0"/>
              <a:t>Для изменения размера элемента рекомендуется его разгруппировать.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0CC7D7-388D-400F-B28C-AA42A76C6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712F-ED1E-0F4B-AD6F-DD6E78697B5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89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E5A41-3F15-8D9D-A639-80BD2ECD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415D93-B4E7-6847-D124-4536D4584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59EF28-8398-F05C-BF83-DFB63FD2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AA99F1-7CF3-28F0-A0BB-7BEEF422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451205-D03E-09C4-48FA-7FACB58D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036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DEB13-B446-6E22-9EF2-9F625B92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D004AA-9785-A8AE-328A-BF2590D2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4B1FAD-ADE2-C309-FBAC-AF678044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573E2B-1CC2-69DB-A6EA-74DF9375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50123C-1B04-4885-6A7F-9B82AA2E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03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752DC-9C3D-2C53-17ED-DCB935542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62FE0D-EF2C-3CD1-0162-76A7E569A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3F6016-E87B-E5AD-1D9C-4651603E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8B2630-C24A-C180-FB3B-61BE2739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E568C8-CC6F-7BA3-B181-3784CFF2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67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9F07F-F474-1C44-52D8-B7D68D47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307BDC-DB1C-A543-7435-4A20FC2FE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3392DB-2B9E-9014-5C22-2E08A06A6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560A3D-1BA3-B334-071D-351E962B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5B3ACA-16AC-D3CF-72D4-CCE692EA1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6FD610-F512-FB1E-8D79-77E13904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12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B0DAFE-EA42-BA9F-BA31-93A8B9B8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3DF095-71CC-87FA-4E1B-27E9267CB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E90DBF-6743-A5FC-FBDC-2A900CE89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79C8D6-E5E9-FCFC-6EE6-3F542310F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35E433-61B2-57C2-A544-0BDDD42AD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736EBC8-3796-FBA1-221C-666BD728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59C52E0-2FF8-A7EF-DB26-67F6629B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9FE23F-3C35-2ACC-BB47-BF5B1EF93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823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1E29F-BB38-1E06-DE07-800E9F34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90B2850-60DD-51D9-0420-50F9D061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072BA93-90B9-833C-827E-2068493B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589DE8-80A6-42AC-E196-8461ABBB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77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D1C01D-59ED-2135-B6B5-FB6F09D78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FCE8D3F-8C3F-3446-FEF2-31F73505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C95FFE-CC1C-B6F9-8E51-97F172AE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02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66F01-36F9-D6DA-959D-8540B73D9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F055D9-C30B-886C-4520-FC5DF66BA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9E8745-30F6-FC2B-EBFB-93BE0C1EC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B0CA4C-CAE6-6947-91D0-C50E77CE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870B05-18B3-63CE-6BA3-B2D73AF5F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021AA9-67D4-0DC4-66B7-0A425636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08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D5151-8C00-2936-ACBA-F5F3FB21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6A8748-2697-371E-BB44-A4E14662D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1BD79B-B67A-2500-6D47-76D1EF3DE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3B2F39-8B81-CD0B-DD59-93D590683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B8D345-29B2-9EB9-3892-E895505A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963FA7-081C-3270-A44E-1539512E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90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6CC8F-1DBE-C62F-6902-99BF86C7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2983FE-ADE8-B155-6E45-BE7DC6099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ACCDAC-E2CF-CAE2-B42B-596F7A5E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0BF414-A05E-E12A-78E2-E8B8CE5F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69685D-45A3-679B-6FD0-A8C45AE3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3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D8134DA-4C5D-D756-66FF-FB4277954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D9D090-9014-D362-7D8B-B0F8F2494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452C45-2FA6-35CF-A26A-19E96330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E16D-942E-134B-A2B0-27B7E3AFA076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2664EA-CA8F-0B54-FC27-C4E5FACA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38F896-60DE-5976-93AC-35DB0AD4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1CD56-65E2-4044-A3FA-719CB09667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94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92B70-57EA-2242-DFD3-5D178194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57E9BC-C192-2B2D-C5A3-1DB24807D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25FB7C-0905-DE66-3781-F289D9591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defRPr>
            </a:lvl1pPr>
          </a:lstStyle>
          <a:p>
            <a:fld id="{88F4E16D-942E-134B-A2B0-27B7E3AFA076}" type="datetimeFigureOut">
              <a:rPr lang="ru-RU" smtClean="0"/>
              <a:pPr/>
              <a:t>11.06.2026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806E19-D6F5-45DE-88AE-D2F5310EF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BCB078-3E29-2E51-6EDB-3F81BDE33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defRPr>
            </a:lvl1pPr>
          </a:lstStyle>
          <a:p>
            <a:fld id="{90A1CD56-65E2-4044-A3FA-719CB09667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31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rgbClr val="1B5AB8"/>
          </a:solidFill>
          <a:latin typeface="Inter Medium" panose="02000503000000020004" pitchFamily="2" charset="0"/>
          <a:ea typeface="Inter Medium" panose="02000503000000020004" pitchFamily="2" charset="0"/>
          <a:cs typeface="Inter Medium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DD203-C483-908C-DAE5-31BE676B1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464" y="1838403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«Скоростные перевозки грузов на ВСЖМ-1 Москва-СПБ»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AD5FD0-30BA-6E54-800A-EB0B6F727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464" y="5255924"/>
            <a:ext cx="9144000" cy="95730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/>
              <a:t>Студенты: </a:t>
            </a:r>
            <a:r>
              <a:rPr lang="ru-RU" dirty="0" err="1"/>
              <a:t>Лещишин</a:t>
            </a:r>
            <a:r>
              <a:rPr lang="ru-RU" dirty="0"/>
              <a:t> Игорь, </a:t>
            </a:r>
            <a:r>
              <a:rPr lang="ru-RU" dirty="0" err="1"/>
              <a:t>Цикин</a:t>
            </a:r>
            <a:r>
              <a:rPr lang="ru-RU" dirty="0"/>
              <a:t> Антон, Горбунов Владислав, Кудряшов Сергей </a:t>
            </a:r>
          </a:p>
          <a:p>
            <a:pPr algn="l"/>
            <a:r>
              <a:rPr lang="ru-RU" dirty="0"/>
              <a:t>Группы: ПУИ-171, ПИН-171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3039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1426F6BA-E6B5-C5D5-52E6-20CEF62F869D}"/>
              </a:ext>
            </a:extLst>
          </p:cNvPr>
          <p:cNvGrpSpPr/>
          <p:nvPr/>
        </p:nvGrpSpPr>
        <p:grpSpPr>
          <a:xfrm>
            <a:off x="546869" y="1101805"/>
            <a:ext cx="11035532" cy="5324553"/>
            <a:chOff x="546870" y="1101805"/>
            <a:chExt cx="7267958" cy="5324553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4598BB6A-E961-EA0B-2DD2-9F2D1A600E5E}"/>
                </a:ext>
              </a:extLst>
            </p:cNvPr>
            <p:cNvSpPr/>
            <p:nvPr/>
          </p:nvSpPr>
          <p:spPr>
            <a:xfrm>
              <a:off x="546870" y="2086708"/>
              <a:ext cx="7267958" cy="4072218"/>
            </a:xfrm>
            <a:prstGeom prst="roundRect">
              <a:avLst>
                <a:gd name="adj" fmla="val 6207"/>
              </a:avLst>
            </a:prstGeom>
            <a:solidFill>
              <a:schemeClr val="bg1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2D040F-5AE1-B0CA-4A3E-BAFEE785C985}"/>
                </a:ext>
              </a:extLst>
            </p:cNvPr>
            <p:cNvSpPr txBox="1"/>
            <p:nvPr/>
          </p:nvSpPr>
          <p:spPr>
            <a:xfrm>
              <a:off x="2792455" y="1101805"/>
              <a:ext cx="277678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4400" dirty="0">
                  <a:solidFill>
                    <a:srgbClr val="1B5AB8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</a:rPr>
                <a:t>Предпосылки: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38C071-7C78-C181-4F5C-EFA3AD2E1E7C}"/>
                </a:ext>
              </a:extLst>
            </p:cNvPr>
            <p:cNvSpPr txBox="1"/>
            <p:nvPr/>
          </p:nvSpPr>
          <p:spPr>
            <a:xfrm>
              <a:off x="688795" y="2086708"/>
              <a:ext cx="6984103" cy="4339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ru-RU" sz="20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Поэтапное увеличение пассажиропотока предполагает недозагрузку инфраструктуры ВСЖМ-1 в первые годы эксплуатации;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ru-RU" sz="20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Возможность использовать недозагруженные нитки графика и ночное окно для перевозки грузов повышает доходность от использования инфраструктуры и снижает срок окупаемости проекта; </a:t>
              </a:r>
            </a:p>
            <a:p>
              <a:endPara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ru-RU" sz="20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Уникальная возможность выйти на рынок логистики с самым быстрым сервисом доставки корреспонденции и товаров электронной торговли </a:t>
              </a:r>
              <a:br>
                <a:rPr lang="en-US" sz="20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</a:br>
              <a:r>
                <a:rPr lang="ru-RU" sz="20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в форматах «пункт выдачи – пункт выдачи» и «из рук в руки»;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ru-RU" sz="20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Наличие в участниках проекта партнеров с компетенциями в логистике (</a:t>
              </a:r>
              <a:r>
                <a:rPr lang="ru-RU" sz="20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СберЛогистика</a:t>
              </a:r>
              <a:r>
                <a:rPr lang="ru-RU" sz="20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).</a:t>
              </a:r>
            </a:p>
            <a:p>
              <a:endParaRPr lang="ru-RU" sz="16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287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141CA-2FBD-B383-1BB0-A36B07673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489706-A9EA-9200-6A60-7D0F644E75BB}"/>
              </a:ext>
            </a:extLst>
          </p:cNvPr>
          <p:cNvSpPr txBox="1"/>
          <p:nvPr/>
        </p:nvSpPr>
        <p:spPr>
          <a:xfrm>
            <a:off x="432954" y="1183122"/>
            <a:ext cx="7654660" cy="1125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400" b="1" dirty="0">
                <a:solidFill>
                  <a:srgbClr val="1B5AB8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Требуемые контакты, </a:t>
            </a:r>
          </a:p>
          <a:p>
            <a:pPr>
              <a:lnSpc>
                <a:spcPts val="4000"/>
              </a:lnSpc>
            </a:pPr>
            <a:r>
              <a:rPr lang="ru-RU" sz="4400" b="1" dirty="0">
                <a:solidFill>
                  <a:srgbClr val="1B5AB8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потенциальные партнеры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9A58A-6317-2012-02EF-FFAF7923556C}"/>
              </a:ext>
            </a:extLst>
          </p:cNvPr>
          <p:cNvSpPr txBox="1"/>
          <p:nvPr/>
        </p:nvSpPr>
        <p:spPr>
          <a:xfrm>
            <a:off x="432954" y="2515694"/>
            <a:ext cx="113260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Контакты: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Романов Дмитрий Владимирович, 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VK, </a:t>
            </a:r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преподаватель ДПИШ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……</a:t>
            </a:r>
          </a:p>
          <a:p>
            <a:pPr marL="457200" indent="-457200">
              <a:buFont typeface="+mj-lt"/>
              <a:buAutoNum type="arabicPeriod"/>
            </a:pPr>
            <a:endParaRPr lang="ru-RU" sz="2000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Партнеры: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err="1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СберЛогистика</a:t>
            </a:r>
            <a:endParaRPr lang="ru-RU" sz="2000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СДЭК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АВИТО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Озон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err="1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ВайлдБерриз</a:t>
            </a:r>
            <a:endParaRPr lang="ru-RU" sz="2000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Аэрофлот Карго</a:t>
            </a:r>
          </a:p>
        </p:txBody>
      </p:sp>
    </p:spTree>
    <p:extLst>
      <p:ext uri="{BB962C8B-B14F-4D97-AF65-F5344CB8AC3E}">
        <p14:creationId xmlns:p14="http://schemas.microsoft.com/office/powerpoint/2010/main" val="150849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576A9-82AC-BFE1-6E33-1A097EED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0DBBF008-BAC9-A172-EE33-8F2BF7B373F8}"/>
              </a:ext>
            </a:extLst>
          </p:cNvPr>
          <p:cNvGrpSpPr/>
          <p:nvPr/>
        </p:nvGrpSpPr>
        <p:grpSpPr>
          <a:xfrm>
            <a:off x="537598" y="1925666"/>
            <a:ext cx="10968474" cy="1739601"/>
            <a:chOff x="4523232" y="1129726"/>
            <a:chExt cx="10961100" cy="1442993"/>
          </a:xfrm>
          <a:solidFill>
            <a:srgbClr val="CEE1FF"/>
          </a:solidFill>
        </p:grpSpPr>
        <p:sp>
          <p:nvSpPr>
            <p:cNvPr id="23" name="Скругленный прямоугольник 22">
              <a:extLst>
                <a:ext uri="{FF2B5EF4-FFF2-40B4-BE49-F238E27FC236}">
                  <a16:creationId xmlns:a16="http://schemas.microsoft.com/office/drawing/2014/main" id="{5D1BCEF8-E895-E047-B3CD-F21F881B1C4D}"/>
                </a:ext>
              </a:extLst>
            </p:cNvPr>
            <p:cNvSpPr/>
            <p:nvPr/>
          </p:nvSpPr>
          <p:spPr>
            <a:xfrm>
              <a:off x="4523232" y="1129726"/>
              <a:ext cx="10961100" cy="1442993"/>
            </a:xfrm>
            <a:prstGeom prst="roundRect">
              <a:avLst>
                <a:gd name="adj" fmla="val 12242"/>
              </a:avLst>
            </a:prstGeom>
            <a:grpFill/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CEB9B9-5D77-54AB-873B-5519055C733B}"/>
                </a:ext>
              </a:extLst>
            </p:cNvPr>
            <p:cNvSpPr txBox="1"/>
            <p:nvPr/>
          </p:nvSpPr>
          <p:spPr>
            <a:xfrm>
              <a:off x="4645563" y="1181191"/>
              <a:ext cx="2182008" cy="337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rgbClr val="1B5AB8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</a:rPr>
                <a:t>Подвижной состав: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D00FD5A-CF8F-3442-407B-55597E9CF2DD}"/>
                </a:ext>
              </a:extLst>
            </p:cNvPr>
            <p:cNvSpPr txBox="1"/>
            <p:nvPr/>
          </p:nvSpPr>
          <p:spPr>
            <a:xfrm>
              <a:off x="4645563" y="1427466"/>
              <a:ext cx="10491340" cy="84030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Технология перевозки в проектируемом пассажирском подвижном составе, трансформация части пространства в «купе», багажный вагон, грузовой поезд. Возможности, ограничения. Финансово-экономические показатели проекта. Программно-аппаратный модуль диагностики и мониторинга объектов железнодорожной инфраструктуры ВСМ</a:t>
              </a:r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9EAF4CDA-B790-382F-C0A6-8E99F75BB6D8}"/>
              </a:ext>
            </a:extLst>
          </p:cNvPr>
          <p:cNvGrpSpPr/>
          <p:nvPr/>
        </p:nvGrpSpPr>
        <p:grpSpPr>
          <a:xfrm>
            <a:off x="537598" y="3854483"/>
            <a:ext cx="10968474" cy="1331158"/>
            <a:chOff x="8499594" y="565406"/>
            <a:chExt cx="10968474" cy="1442993"/>
          </a:xfrm>
        </p:grpSpPr>
        <p:sp>
          <p:nvSpPr>
            <p:cNvPr id="37" name="Скругленный прямоугольник 36">
              <a:extLst>
                <a:ext uri="{FF2B5EF4-FFF2-40B4-BE49-F238E27FC236}">
                  <a16:creationId xmlns:a16="http://schemas.microsoft.com/office/drawing/2014/main" id="{95D4FF20-6B57-0F57-0796-61E86BB3392C}"/>
                </a:ext>
              </a:extLst>
            </p:cNvPr>
            <p:cNvSpPr/>
            <p:nvPr/>
          </p:nvSpPr>
          <p:spPr>
            <a:xfrm>
              <a:off x="8499594" y="565406"/>
              <a:ext cx="10968474" cy="1442993"/>
            </a:xfrm>
            <a:prstGeom prst="roundRect">
              <a:avLst>
                <a:gd name="adj" fmla="val 11035"/>
              </a:avLst>
            </a:prstGeom>
            <a:solidFill>
              <a:srgbClr val="CEE1FF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7DDBC35-443D-3BE2-E5DA-B437E90E5033}"/>
                </a:ext>
              </a:extLst>
            </p:cNvPr>
            <p:cNvSpPr txBox="1"/>
            <p:nvPr/>
          </p:nvSpPr>
          <p:spPr>
            <a:xfrm>
              <a:off x="8636754" y="684888"/>
              <a:ext cx="3655168" cy="366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rgbClr val="1B5AB8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</a:rPr>
                <a:t>Сопутствующая инфраструктура: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0E5235A-6F49-99F3-0289-DDD8E935D8D0}"/>
                </a:ext>
              </a:extLst>
            </p:cNvPr>
            <p:cNvSpPr txBox="1"/>
            <p:nvPr/>
          </p:nvSpPr>
          <p:spPr>
            <a:xfrm>
              <a:off x="8636754" y="833241"/>
              <a:ext cx="10823940" cy="1134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ru-RU" sz="14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r>
                <a:rPr lang="ru-RU" sz="16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Создание распределительных центров при депо/вокзалах, вокзальная инфраструктура приема-выдачи отправлений, логистика на вокзале (сервисная зона – поезд). Возможности, ограничения. Финансово-экономические показатели проекта. 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FB13597-30FE-683B-A9B9-41F949E2B102}"/>
              </a:ext>
            </a:extLst>
          </p:cNvPr>
          <p:cNvSpPr txBox="1"/>
          <p:nvPr/>
        </p:nvSpPr>
        <p:spPr>
          <a:xfrm>
            <a:off x="360080" y="472733"/>
            <a:ext cx="110982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rgbClr val="1B5AB8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rPr>
              <a:t>Основные треки диссертационной работы:</a:t>
            </a:r>
          </a:p>
        </p:txBody>
      </p:sp>
      <p:sp>
        <p:nvSpPr>
          <p:cNvPr id="4" name="Скругленный прямоугольник 36">
            <a:extLst>
              <a:ext uri="{FF2B5EF4-FFF2-40B4-BE49-F238E27FC236}">
                <a16:creationId xmlns:a16="http://schemas.microsoft.com/office/drawing/2014/main" id="{36FE2C2F-EEC3-3623-65B1-4231E9FAACBA}"/>
              </a:ext>
            </a:extLst>
          </p:cNvPr>
          <p:cNvSpPr/>
          <p:nvPr/>
        </p:nvSpPr>
        <p:spPr>
          <a:xfrm>
            <a:off x="537598" y="5344470"/>
            <a:ext cx="10968474" cy="1331158"/>
          </a:xfrm>
          <a:prstGeom prst="roundRect">
            <a:avLst>
              <a:gd name="adj" fmla="val 11035"/>
            </a:avLst>
          </a:prstGeom>
          <a:solidFill>
            <a:srgbClr val="CEE1FF"/>
          </a:solidFill>
          <a:ln w="15875">
            <a:solidFill>
              <a:srgbClr val="1B5A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E6A18-EDDC-60D6-0F9C-7721220BB695}"/>
              </a:ext>
            </a:extLst>
          </p:cNvPr>
          <p:cNvSpPr txBox="1"/>
          <p:nvPr/>
        </p:nvSpPr>
        <p:spPr>
          <a:xfrm>
            <a:off x="689506" y="5392376"/>
            <a:ext cx="2329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1B5AB8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rPr>
              <a:t>ИТ инфраструктура: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32068-CD8D-22D2-4D3B-B8E83B5B2EF6}"/>
              </a:ext>
            </a:extLst>
          </p:cNvPr>
          <p:cNvSpPr txBox="1"/>
          <p:nvPr/>
        </p:nvSpPr>
        <p:spPr>
          <a:xfrm>
            <a:off x="674758" y="5575971"/>
            <a:ext cx="1082394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4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r>
              <a:rPr lang="ru-RU" sz="16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Проектирование и разработка ИС, автоматизирующей полный цикл обработки грузовых отправлений - от приёма до выдачи получателю.</a:t>
            </a:r>
          </a:p>
        </p:txBody>
      </p:sp>
    </p:spTree>
    <p:extLst>
      <p:ext uri="{BB962C8B-B14F-4D97-AF65-F5344CB8AC3E}">
        <p14:creationId xmlns:p14="http://schemas.microsoft.com/office/powerpoint/2010/main" val="13240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749E-46AE-FBFF-1B18-A20E105C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355E29-349D-1773-DE5B-2E2243FB00CC}"/>
              </a:ext>
            </a:extLst>
          </p:cNvPr>
          <p:cNvSpPr txBox="1"/>
          <p:nvPr/>
        </p:nvSpPr>
        <p:spPr>
          <a:xfrm>
            <a:off x="217114" y="273229"/>
            <a:ext cx="7487947" cy="11182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4447BB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Общая концепция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4447BB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IT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4447BB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-части и</a:t>
            </a:r>
          </a:p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4447BB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Инфраструктуры проекта</a:t>
            </a:r>
          </a:p>
        </p:txBody>
      </p:sp>
      <p:pic>
        <p:nvPicPr>
          <p:cNvPr id="3" name="Рисунок 86">
            <a:extLst>
              <a:ext uri="{FF2B5EF4-FFF2-40B4-BE49-F238E27FC236}">
                <a16:creationId xmlns:a16="http://schemas.microsoft.com/office/drawing/2014/main" id="{4D75A013-E8DA-EA44-30FE-51E76CECD5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48395"/>
            <a:ext cx="1309605" cy="1309605"/>
          </a:xfrm>
          <a:prstGeom prst="rect">
            <a:avLst/>
          </a:prstGeom>
        </p:spPr>
      </p:pic>
      <p:pic>
        <p:nvPicPr>
          <p:cNvPr id="5" name="Рисунок 134">
            <a:extLst>
              <a:ext uri="{FF2B5EF4-FFF2-40B4-BE49-F238E27FC236}">
                <a16:creationId xmlns:a16="http://schemas.microsoft.com/office/drawing/2014/main" id="{B407B9CF-1C3B-D09C-2968-2B90B2A422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3351" y="5692985"/>
            <a:ext cx="1309605" cy="1309605"/>
          </a:xfrm>
          <a:prstGeom prst="rect">
            <a:avLst/>
          </a:prstGeom>
        </p:spPr>
      </p:pic>
      <p:pic>
        <p:nvPicPr>
          <p:cNvPr id="8" name="Рисунок 36">
            <a:extLst>
              <a:ext uri="{FF2B5EF4-FFF2-40B4-BE49-F238E27FC236}">
                <a16:creationId xmlns:a16="http://schemas.microsoft.com/office/drawing/2014/main" id="{977D830A-0840-33D2-2788-E9D689C5D1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3186" y="5563907"/>
            <a:ext cx="1309605" cy="130960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523E5E6-DE09-11E5-38A9-94FA8B34AB24}"/>
              </a:ext>
            </a:extLst>
          </p:cNvPr>
          <p:cNvSpPr/>
          <p:nvPr/>
        </p:nvSpPr>
        <p:spPr>
          <a:xfrm>
            <a:off x="9759182" y="6155556"/>
            <a:ext cx="1309605" cy="384464"/>
          </a:xfrm>
          <a:prstGeom prst="rightArrow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Рисунок 68">
            <a:extLst>
              <a:ext uri="{FF2B5EF4-FFF2-40B4-BE49-F238E27FC236}">
                <a16:creationId xmlns:a16="http://schemas.microsoft.com/office/drawing/2014/main" id="{15D5ADF1-1673-24D9-DE93-976339327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6026" y="5692986"/>
            <a:ext cx="1309605" cy="130960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1AF1AEE6-6431-D1F9-15CE-2B16563FC3AB}"/>
              </a:ext>
            </a:extLst>
          </p:cNvPr>
          <p:cNvSpPr/>
          <p:nvPr/>
        </p:nvSpPr>
        <p:spPr>
          <a:xfrm>
            <a:off x="4170029" y="6100260"/>
            <a:ext cx="1309605" cy="384464"/>
          </a:xfrm>
          <a:prstGeom prst="rightArrow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44A2276-04C7-DE82-1CEF-80B40E4C1010}"/>
              </a:ext>
            </a:extLst>
          </p:cNvPr>
          <p:cNvSpPr/>
          <p:nvPr/>
        </p:nvSpPr>
        <p:spPr>
          <a:xfrm>
            <a:off x="6900028" y="6090267"/>
            <a:ext cx="1309605" cy="384464"/>
          </a:xfrm>
          <a:prstGeom prst="rightArrow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590E66E-CF23-ADC7-7876-25978C9CAEC9}"/>
              </a:ext>
            </a:extLst>
          </p:cNvPr>
          <p:cNvSpPr/>
          <p:nvPr/>
        </p:nvSpPr>
        <p:spPr>
          <a:xfrm>
            <a:off x="1456509" y="6200307"/>
            <a:ext cx="1309605" cy="384464"/>
          </a:xfrm>
          <a:prstGeom prst="rightArrow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ED66801C-3562-C49C-3DC6-D83E234B0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2338" y="5747668"/>
            <a:ext cx="1069662" cy="1069662"/>
          </a:xfrm>
          <a:prstGeom prst="rect">
            <a:avLst/>
          </a:prstGeom>
        </p:spPr>
      </p:pic>
      <p:grpSp>
        <p:nvGrpSpPr>
          <p:cNvPr id="16" name="Группа 14">
            <a:extLst>
              <a:ext uri="{FF2B5EF4-FFF2-40B4-BE49-F238E27FC236}">
                <a16:creationId xmlns:a16="http://schemas.microsoft.com/office/drawing/2014/main" id="{3B5AF739-D140-8D06-C0B3-239DEE7A6AE2}"/>
              </a:ext>
            </a:extLst>
          </p:cNvPr>
          <p:cNvGrpSpPr/>
          <p:nvPr/>
        </p:nvGrpSpPr>
        <p:grpSpPr>
          <a:xfrm>
            <a:off x="688801" y="1610894"/>
            <a:ext cx="2761797" cy="3900357"/>
            <a:chOff x="546870" y="1129726"/>
            <a:chExt cx="3145536" cy="5041370"/>
          </a:xfrm>
        </p:grpSpPr>
        <p:sp>
          <p:nvSpPr>
            <p:cNvPr id="17" name="Скругленный прямоугольник 3">
              <a:extLst>
                <a:ext uri="{FF2B5EF4-FFF2-40B4-BE49-F238E27FC236}">
                  <a16:creationId xmlns:a16="http://schemas.microsoft.com/office/drawing/2014/main" id="{95937939-23AF-1030-B458-4E1C3212EFBB}"/>
                </a:ext>
              </a:extLst>
            </p:cNvPr>
            <p:cNvSpPr/>
            <p:nvPr/>
          </p:nvSpPr>
          <p:spPr>
            <a:xfrm>
              <a:off x="546870" y="1129726"/>
              <a:ext cx="3145536" cy="5029200"/>
            </a:xfrm>
            <a:prstGeom prst="roundRect">
              <a:avLst>
                <a:gd name="adj" fmla="val 6207"/>
              </a:avLst>
            </a:prstGeom>
            <a:solidFill>
              <a:schemeClr val="bg1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27097D-8AD9-1F02-3D0E-83A5ACF298A5}"/>
                </a:ext>
              </a:extLst>
            </p:cNvPr>
            <p:cNvSpPr txBox="1"/>
            <p:nvPr/>
          </p:nvSpPr>
          <p:spPr>
            <a:xfrm>
              <a:off x="546870" y="3492503"/>
              <a:ext cx="3001002" cy="835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D8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1. </a:t>
              </a: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D84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Оформление</a:t>
              </a: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D8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отправления</a:t>
              </a: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3D84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EB3550-74B7-C270-B6FC-C5EAA7FFAAA5}"/>
                </a:ext>
              </a:extLst>
            </p:cNvPr>
            <p:cNvSpPr txBox="1"/>
            <p:nvPr/>
          </p:nvSpPr>
          <p:spPr>
            <a:xfrm>
              <a:off x="546871" y="4142246"/>
              <a:ext cx="3001000" cy="2028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Отправитель создает заявку</a:t>
              </a:r>
              <a:b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</a:b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в мобильном приложении и регистрирует посылку в системе.</a:t>
              </a:r>
            </a:p>
          </p:txBody>
        </p:sp>
        <p:pic>
          <p:nvPicPr>
            <p:cNvPr id="20" name="Рисунок 2">
              <a:extLst>
                <a:ext uri="{FF2B5EF4-FFF2-40B4-BE49-F238E27FC236}">
                  <a16:creationId xmlns:a16="http://schemas.microsoft.com/office/drawing/2014/main" id="{65B2D4F9-375C-0911-4A2F-B1B9A9092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17" t="15062" r="67613" b="14700"/>
            <a:stretch>
              <a:fillRect/>
            </a:stretch>
          </p:blipFill>
          <p:spPr>
            <a:xfrm>
              <a:off x="985349" y="1207700"/>
              <a:ext cx="2268578" cy="2299273"/>
            </a:xfrm>
            <a:prstGeom prst="round2SameRect">
              <a:avLst>
                <a:gd name="adj1" fmla="val 8642"/>
                <a:gd name="adj2" fmla="val 0"/>
              </a:avLst>
            </a:prstGeom>
          </p:spPr>
        </p:pic>
      </p:grpSp>
      <p:grpSp>
        <p:nvGrpSpPr>
          <p:cNvPr id="31" name="Группа 14">
            <a:extLst>
              <a:ext uri="{FF2B5EF4-FFF2-40B4-BE49-F238E27FC236}">
                <a16:creationId xmlns:a16="http://schemas.microsoft.com/office/drawing/2014/main" id="{18999B95-9DD1-369B-210B-E13C63118BF7}"/>
              </a:ext>
            </a:extLst>
          </p:cNvPr>
          <p:cNvGrpSpPr/>
          <p:nvPr/>
        </p:nvGrpSpPr>
        <p:grpSpPr>
          <a:xfrm>
            <a:off x="4715101" y="1610894"/>
            <a:ext cx="2761797" cy="3890941"/>
            <a:chOff x="546870" y="1129726"/>
            <a:chExt cx="3145536" cy="5029200"/>
          </a:xfrm>
        </p:grpSpPr>
        <p:sp>
          <p:nvSpPr>
            <p:cNvPr id="32" name="Скругленный прямоугольник 3">
              <a:extLst>
                <a:ext uri="{FF2B5EF4-FFF2-40B4-BE49-F238E27FC236}">
                  <a16:creationId xmlns:a16="http://schemas.microsoft.com/office/drawing/2014/main" id="{AA590DDE-15AE-CD8B-20E8-C0D0141F8E42}"/>
                </a:ext>
              </a:extLst>
            </p:cNvPr>
            <p:cNvSpPr/>
            <p:nvPr/>
          </p:nvSpPr>
          <p:spPr>
            <a:xfrm>
              <a:off x="546870" y="1129726"/>
              <a:ext cx="3145536" cy="5029200"/>
            </a:xfrm>
            <a:prstGeom prst="roundRect">
              <a:avLst>
                <a:gd name="adj" fmla="val 6207"/>
              </a:avLst>
            </a:prstGeom>
            <a:solidFill>
              <a:schemeClr val="bg1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7FA1DE6-6735-56E2-A0A6-7BDB3DCF1035}"/>
                </a:ext>
              </a:extLst>
            </p:cNvPr>
            <p:cNvSpPr txBox="1"/>
            <p:nvPr/>
          </p:nvSpPr>
          <p:spPr>
            <a:xfrm>
              <a:off x="546870" y="3492503"/>
              <a:ext cx="3001002" cy="835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D84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2. Перевозка и мониторинг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E6831A-2ED2-36EF-78A4-BCF1A2903297}"/>
                </a:ext>
              </a:extLst>
            </p:cNvPr>
            <p:cNvSpPr txBox="1"/>
            <p:nvPr/>
          </p:nvSpPr>
          <p:spPr>
            <a:xfrm>
              <a:off x="588175" y="4375755"/>
              <a:ext cx="3001000" cy="1074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Мониторинг движения, контроль статуса перевозки</a:t>
              </a:r>
            </a:p>
          </p:txBody>
        </p:sp>
        <p:pic>
          <p:nvPicPr>
            <p:cNvPr id="35" name="Рисунок 2">
              <a:extLst>
                <a:ext uri="{FF2B5EF4-FFF2-40B4-BE49-F238E27FC236}">
                  <a16:creationId xmlns:a16="http://schemas.microsoft.com/office/drawing/2014/main" id="{E7753D48-785C-410A-8B40-6625C37C4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3110" t="14937" r="33408" b="15267"/>
            <a:stretch>
              <a:fillRect/>
            </a:stretch>
          </p:blipFill>
          <p:spPr>
            <a:xfrm>
              <a:off x="963487" y="1193230"/>
              <a:ext cx="2312302" cy="2364151"/>
            </a:xfrm>
            <a:prstGeom prst="round2SameRect">
              <a:avLst>
                <a:gd name="adj1" fmla="val 8642"/>
                <a:gd name="adj2" fmla="val 0"/>
              </a:avLst>
            </a:prstGeom>
          </p:spPr>
        </p:pic>
      </p:grpSp>
      <p:grpSp>
        <p:nvGrpSpPr>
          <p:cNvPr id="36" name="Группа 14">
            <a:extLst>
              <a:ext uri="{FF2B5EF4-FFF2-40B4-BE49-F238E27FC236}">
                <a16:creationId xmlns:a16="http://schemas.microsoft.com/office/drawing/2014/main" id="{49966525-4E6E-7645-BDAA-794F03B08067}"/>
              </a:ext>
            </a:extLst>
          </p:cNvPr>
          <p:cNvGrpSpPr/>
          <p:nvPr/>
        </p:nvGrpSpPr>
        <p:grpSpPr>
          <a:xfrm>
            <a:off x="8980976" y="1599699"/>
            <a:ext cx="2761797" cy="3890942"/>
            <a:chOff x="546870" y="1129726"/>
            <a:chExt cx="3145536" cy="5029200"/>
          </a:xfrm>
        </p:grpSpPr>
        <p:sp>
          <p:nvSpPr>
            <p:cNvPr id="37" name="Скругленный прямоугольник 3">
              <a:extLst>
                <a:ext uri="{FF2B5EF4-FFF2-40B4-BE49-F238E27FC236}">
                  <a16:creationId xmlns:a16="http://schemas.microsoft.com/office/drawing/2014/main" id="{3D1DBEAF-522E-B6E1-2838-77DAB81EDAF3}"/>
                </a:ext>
              </a:extLst>
            </p:cNvPr>
            <p:cNvSpPr/>
            <p:nvPr/>
          </p:nvSpPr>
          <p:spPr>
            <a:xfrm>
              <a:off x="546870" y="1129726"/>
              <a:ext cx="3145536" cy="5029200"/>
            </a:xfrm>
            <a:prstGeom prst="roundRect">
              <a:avLst>
                <a:gd name="adj" fmla="val 6207"/>
              </a:avLst>
            </a:prstGeom>
            <a:solidFill>
              <a:schemeClr val="bg1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DD1C688-E85D-DBD7-E2DE-2C36A4425FCF}"/>
                </a:ext>
              </a:extLst>
            </p:cNvPr>
            <p:cNvSpPr txBox="1"/>
            <p:nvPr/>
          </p:nvSpPr>
          <p:spPr>
            <a:xfrm>
              <a:off x="546870" y="3492503"/>
              <a:ext cx="3001002" cy="835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D84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3. Доставка получателю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ED04415-D8E0-F80B-A5CD-6ABD672B12B8}"/>
                </a:ext>
              </a:extLst>
            </p:cNvPr>
            <p:cNvSpPr txBox="1"/>
            <p:nvPr/>
          </p:nvSpPr>
          <p:spPr>
            <a:xfrm>
              <a:off x="588175" y="4354355"/>
              <a:ext cx="3001000" cy="1710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После прибытия система автоматически</a:t>
              </a:r>
              <a:b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</a:b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передает посылку в курьерскую доставку или ПВЗ.</a:t>
              </a:r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9A858727-2C8F-F1EB-357B-BBEE08D110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9769" y="1685803"/>
            <a:ext cx="1764209" cy="177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9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7DEDB-18C2-F44B-C4B2-FFC9365BC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4009D8-723C-AE0C-CC15-3379DE0F3BB8}"/>
              </a:ext>
            </a:extLst>
          </p:cNvPr>
          <p:cNvSpPr txBox="1"/>
          <p:nvPr/>
        </p:nvSpPr>
        <p:spPr>
          <a:xfrm>
            <a:off x="217114" y="273229"/>
            <a:ext cx="7487947" cy="11182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b="1" dirty="0">
                <a:solidFill>
                  <a:srgbClr val="4447BB"/>
                </a:solidFill>
                <a:latin typeface="Raleway" pitchFamily="2" charset="0"/>
              </a:rPr>
              <a:t>Общая концепция </a:t>
            </a:r>
            <a:r>
              <a:rPr lang="en-US" sz="4000" b="1" dirty="0">
                <a:solidFill>
                  <a:srgbClr val="4447BB"/>
                </a:solidFill>
                <a:latin typeface="Raleway" pitchFamily="2" charset="0"/>
              </a:rPr>
              <a:t>IT</a:t>
            </a:r>
            <a:r>
              <a:rPr lang="ru-RU" sz="4000" b="1" dirty="0">
                <a:solidFill>
                  <a:srgbClr val="4447BB"/>
                </a:solidFill>
                <a:latin typeface="Raleway" pitchFamily="2" charset="0"/>
              </a:rPr>
              <a:t>-части и</a:t>
            </a:r>
          </a:p>
          <a:p>
            <a:pPr>
              <a:lnSpc>
                <a:spcPts val="4000"/>
              </a:lnSpc>
            </a:pPr>
            <a:r>
              <a:rPr lang="ru-RU" sz="4000" b="1" dirty="0">
                <a:solidFill>
                  <a:srgbClr val="4447BB"/>
                </a:solidFill>
                <a:latin typeface="Raleway" pitchFamily="2" charset="0"/>
              </a:rPr>
              <a:t>Инфраструктуры проекта</a:t>
            </a:r>
          </a:p>
        </p:txBody>
      </p:sp>
      <p:grpSp>
        <p:nvGrpSpPr>
          <p:cNvPr id="4" name="Группа 13">
            <a:extLst>
              <a:ext uri="{FF2B5EF4-FFF2-40B4-BE49-F238E27FC236}">
                <a16:creationId xmlns:a16="http://schemas.microsoft.com/office/drawing/2014/main" id="{301B4081-F6B5-9A9A-127C-CF4A3B91395D}"/>
              </a:ext>
            </a:extLst>
          </p:cNvPr>
          <p:cNvGrpSpPr/>
          <p:nvPr/>
        </p:nvGrpSpPr>
        <p:grpSpPr>
          <a:xfrm>
            <a:off x="217114" y="1495486"/>
            <a:ext cx="4923846" cy="1442993"/>
            <a:chOff x="546870" y="1119566"/>
            <a:chExt cx="4923846" cy="1442993"/>
          </a:xfrm>
        </p:grpSpPr>
        <p:sp>
          <p:nvSpPr>
            <p:cNvPr id="6" name="Скругленный прямоугольник 3">
              <a:extLst>
                <a:ext uri="{FF2B5EF4-FFF2-40B4-BE49-F238E27FC236}">
                  <a16:creationId xmlns:a16="http://schemas.microsoft.com/office/drawing/2014/main" id="{ACDBC3D4-DEDA-13B8-15FA-94019BF6DA09}"/>
                </a:ext>
              </a:extLst>
            </p:cNvPr>
            <p:cNvSpPr/>
            <p:nvPr/>
          </p:nvSpPr>
          <p:spPr>
            <a:xfrm>
              <a:off x="546870" y="1119566"/>
              <a:ext cx="4923846" cy="1442993"/>
            </a:xfrm>
            <a:prstGeom prst="roundRect">
              <a:avLst>
                <a:gd name="adj" fmla="val 12242"/>
              </a:avLst>
            </a:prstGeom>
            <a:solidFill>
              <a:schemeClr val="bg1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B87CF8-12FE-5902-10EA-386BC3D7EC62}"/>
                </a:ext>
              </a:extLst>
            </p:cNvPr>
            <p:cNvSpPr txBox="1"/>
            <p:nvPr/>
          </p:nvSpPr>
          <p:spPr>
            <a:xfrm>
              <a:off x="676656" y="1244834"/>
              <a:ext cx="2755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003D84"/>
                  </a:solidFill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1. Клиентский уровень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357132-7066-8B1F-463A-D69F756148FF}"/>
                </a:ext>
              </a:extLst>
            </p:cNvPr>
            <p:cNvSpPr txBox="1"/>
            <p:nvPr/>
          </p:nvSpPr>
          <p:spPr>
            <a:xfrm>
              <a:off x="676656" y="1620554"/>
              <a:ext cx="46315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Пользователь взаимодействует с системой через мобильное приложение, веб-интерфейс и специализированные панели операторов.</a:t>
              </a:r>
            </a:p>
          </p:txBody>
        </p:sp>
      </p:grpSp>
      <p:grpSp>
        <p:nvGrpSpPr>
          <p:cNvPr id="21" name="Группа 21">
            <a:extLst>
              <a:ext uri="{FF2B5EF4-FFF2-40B4-BE49-F238E27FC236}">
                <a16:creationId xmlns:a16="http://schemas.microsoft.com/office/drawing/2014/main" id="{8021DCB8-BB79-530C-8D09-8A99E7433D63}"/>
              </a:ext>
            </a:extLst>
          </p:cNvPr>
          <p:cNvGrpSpPr/>
          <p:nvPr/>
        </p:nvGrpSpPr>
        <p:grpSpPr>
          <a:xfrm>
            <a:off x="3275274" y="3188772"/>
            <a:ext cx="4794060" cy="1671154"/>
            <a:chOff x="4523232" y="1129726"/>
            <a:chExt cx="10961100" cy="1442993"/>
          </a:xfrm>
        </p:grpSpPr>
        <p:sp>
          <p:nvSpPr>
            <p:cNvPr id="22" name="Скругленный прямоугольник 22">
              <a:extLst>
                <a:ext uri="{FF2B5EF4-FFF2-40B4-BE49-F238E27FC236}">
                  <a16:creationId xmlns:a16="http://schemas.microsoft.com/office/drawing/2014/main" id="{D3C99FE7-44DA-7E64-85DA-F1C3A387A79F}"/>
                </a:ext>
              </a:extLst>
            </p:cNvPr>
            <p:cNvSpPr/>
            <p:nvPr/>
          </p:nvSpPr>
          <p:spPr>
            <a:xfrm>
              <a:off x="4523232" y="1129726"/>
              <a:ext cx="10961100" cy="1442993"/>
            </a:xfrm>
            <a:prstGeom prst="roundRect">
              <a:avLst>
                <a:gd name="adj" fmla="val 12242"/>
              </a:avLst>
            </a:prstGeom>
            <a:solidFill>
              <a:srgbClr val="1B5AB8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D7E670B-16DA-C82A-BBD9-6BE6399E2466}"/>
                </a:ext>
              </a:extLst>
            </p:cNvPr>
            <p:cNvSpPr txBox="1"/>
            <p:nvPr/>
          </p:nvSpPr>
          <p:spPr>
            <a:xfrm>
              <a:off x="4660392" y="1244834"/>
              <a:ext cx="2739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2. Сервисный уровень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CC71F1-3E8F-4261-E1B7-6AAD376AC99F}"/>
                </a:ext>
              </a:extLst>
            </p:cNvPr>
            <p:cNvSpPr txBox="1"/>
            <p:nvPr/>
          </p:nvSpPr>
          <p:spPr>
            <a:xfrm>
              <a:off x="4660392" y="1618224"/>
              <a:ext cx="10823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chemeClr val="bg1"/>
                  </a:solidFill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Бизнес-логика реализуется в виде микросервисов, отвечающих за оформление отправлений, мониторинг, уведомления, маршрутизацию и обработку событий.</a:t>
              </a:r>
            </a:p>
          </p:txBody>
        </p:sp>
      </p:grpSp>
      <p:grpSp>
        <p:nvGrpSpPr>
          <p:cNvPr id="25" name="Группа 35">
            <a:extLst>
              <a:ext uri="{FF2B5EF4-FFF2-40B4-BE49-F238E27FC236}">
                <a16:creationId xmlns:a16="http://schemas.microsoft.com/office/drawing/2014/main" id="{439092F5-61E0-E3DE-12CB-26E4E256EC50}"/>
              </a:ext>
            </a:extLst>
          </p:cNvPr>
          <p:cNvGrpSpPr/>
          <p:nvPr/>
        </p:nvGrpSpPr>
        <p:grpSpPr>
          <a:xfrm>
            <a:off x="6788280" y="5049521"/>
            <a:ext cx="5241160" cy="1598400"/>
            <a:chOff x="8499594" y="1129726"/>
            <a:chExt cx="10968474" cy="1442993"/>
          </a:xfrm>
        </p:grpSpPr>
        <p:sp>
          <p:nvSpPr>
            <p:cNvPr id="26" name="Скругленный прямоугольник 36">
              <a:extLst>
                <a:ext uri="{FF2B5EF4-FFF2-40B4-BE49-F238E27FC236}">
                  <a16:creationId xmlns:a16="http://schemas.microsoft.com/office/drawing/2014/main" id="{6A356492-95D3-0394-2315-72373C40F27D}"/>
                </a:ext>
              </a:extLst>
            </p:cNvPr>
            <p:cNvSpPr/>
            <p:nvPr/>
          </p:nvSpPr>
          <p:spPr>
            <a:xfrm>
              <a:off x="8499594" y="1129726"/>
              <a:ext cx="10968474" cy="1442993"/>
            </a:xfrm>
            <a:prstGeom prst="roundRect">
              <a:avLst>
                <a:gd name="adj" fmla="val 11035"/>
              </a:avLst>
            </a:prstGeom>
            <a:solidFill>
              <a:srgbClr val="CEE1FF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C336DE-945A-F3CC-D519-5E26748AA2A2}"/>
                </a:ext>
              </a:extLst>
            </p:cNvPr>
            <p:cNvSpPr txBox="1"/>
            <p:nvPr/>
          </p:nvSpPr>
          <p:spPr>
            <a:xfrm>
              <a:off x="8636754" y="1244834"/>
              <a:ext cx="3675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1B5AB8"/>
                  </a:solidFill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3. Инфраструктурный уровень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5E043F-4818-154A-7012-E9E6B9C09CF3}"/>
                </a:ext>
              </a:extLst>
            </p:cNvPr>
            <p:cNvSpPr txBox="1"/>
            <p:nvPr/>
          </p:nvSpPr>
          <p:spPr>
            <a:xfrm>
              <a:off x="8636754" y="1614166"/>
              <a:ext cx="10823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Платформа опирается на API, базы данных, телеметрию, средства мониторинга и механизмы безопасной интеграции с внешними системами.</a:t>
              </a:r>
            </a:p>
          </p:txBody>
        </p:sp>
      </p:grpSp>
      <p:pic>
        <p:nvPicPr>
          <p:cNvPr id="29" name="Рисунок 158">
            <a:extLst>
              <a:ext uri="{FF2B5EF4-FFF2-40B4-BE49-F238E27FC236}">
                <a16:creationId xmlns:a16="http://schemas.microsoft.com/office/drawing/2014/main" id="{09F07748-C04D-0824-50D9-22A7E878D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0891" y="1495486"/>
            <a:ext cx="1318709" cy="1318709"/>
          </a:xfrm>
          <a:prstGeom prst="rect">
            <a:avLst/>
          </a:prstGeom>
        </p:spPr>
      </p:pic>
      <p:pic>
        <p:nvPicPr>
          <p:cNvPr id="30" name="Рисунок 194">
            <a:extLst>
              <a:ext uri="{FF2B5EF4-FFF2-40B4-BE49-F238E27FC236}">
                <a16:creationId xmlns:a16="http://schemas.microsoft.com/office/drawing/2014/main" id="{E86C3A29-E625-B8F6-D3CF-EEE4E9AF5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8496" y="3325061"/>
            <a:ext cx="1318708" cy="1318708"/>
          </a:xfrm>
          <a:prstGeom prst="rect">
            <a:avLst/>
          </a:prstGeom>
        </p:spPr>
      </p:pic>
      <p:pic>
        <p:nvPicPr>
          <p:cNvPr id="40" name="Рисунок 92">
            <a:extLst>
              <a:ext uri="{FF2B5EF4-FFF2-40B4-BE49-F238E27FC236}">
                <a16:creationId xmlns:a16="http://schemas.microsoft.com/office/drawing/2014/main" id="{EFC036AF-F3CE-FEBA-D271-95CFC28C7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0960" y="5214996"/>
            <a:ext cx="1321845" cy="132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68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AC085-2480-E8B2-B805-D93A85559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4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400" dirty="0"/>
              <a:t>2 вектора развития  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47C6594-FD8E-03F0-A2A8-16A46E39AC8C}"/>
              </a:ext>
            </a:extLst>
          </p:cNvPr>
          <p:cNvGrpSpPr/>
          <p:nvPr/>
        </p:nvGrpSpPr>
        <p:grpSpPr>
          <a:xfrm>
            <a:off x="196325" y="1941480"/>
            <a:ext cx="5490860" cy="1325562"/>
            <a:chOff x="8499594" y="1129726"/>
            <a:chExt cx="10968474" cy="1442993"/>
          </a:xfrm>
        </p:grpSpPr>
        <p:sp>
          <p:nvSpPr>
            <p:cNvPr id="13" name="Скругленный прямоугольник 36">
              <a:extLst>
                <a:ext uri="{FF2B5EF4-FFF2-40B4-BE49-F238E27FC236}">
                  <a16:creationId xmlns:a16="http://schemas.microsoft.com/office/drawing/2014/main" id="{E810AC52-CD71-5162-731C-54B127B8C08D}"/>
                </a:ext>
              </a:extLst>
            </p:cNvPr>
            <p:cNvSpPr/>
            <p:nvPr/>
          </p:nvSpPr>
          <p:spPr>
            <a:xfrm>
              <a:off x="8499594" y="1129726"/>
              <a:ext cx="10968474" cy="1442993"/>
            </a:xfrm>
            <a:prstGeom prst="roundRect">
              <a:avLst>
                <a:gd name="adj" fmla="val 11035"/>
              </a:avLst>
            </a:prstGeom>
            <a:solidFill>
              <a:srgbClr val="CEE1FF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D82D44-745F-6C6D-5C11-A4DB7908BADF}"/>
                </a:ext>
              </a:extLst>
            </p:cNvPr>
            <p:cNvSpPr txBox="1"/>
            <p:nvPr/>
          </p:nvSpPr>
          <p:spPr>
            <a:xfrm>
              <a:off x="8636754" y="1614166"/>
              <a:ext cx="10823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C508A5E-C8CF-1736-4FB1-DCF6EC61140A}"/>
              </a:ext>
            </a:extLst>
          </p:cNvPr>
          <p:cNvSpPr txBox="1"/>
          <p:nvPr/>
        </p:nvSpPr>
        <p:spPr>
          <a:xfrm>
            <a:off x="264988" y="2060020"/>
            <a:ext cx="60982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u="sng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28-29 гг.</a:t>
            </a:r>
          </a:p>
          <a:p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Перевозка мелких отправлений в пассажирском подвижном составе ВСМ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1F0CB197-442B-1FAF-C74C-375D7DFFF842}"/>
              </a:ext>
            </a:extLst>
          </p:cNvPr>
          <p:cNvGrpSpPr/>
          <p:nvPr/>
        </p:nvGrpSpPr>
        <p:grpSpPr>
          <a:xfrm>
            <a:off x="6198094" y="1941480"/>
            <a:ext cx="5490860" cy="1325563"/>
            <a:chOff x="8499594" y="1129726"/>
            <a:chExt cx="10968474" cy="1442993"/>
          </a:xfrm>
        </p:grpSpPr>
        <p:sp>
          <p:nvSpPr>
            <p:cNvPr id="25" name="Скругленный прямоугольник 36">
              <a:extLst>
                <a:ext uri="{FF2B5EF4-FFF2-40B4-BE49-F238E27FC236}">
                  <a16:creationId xmlns:a16="http://schemas.microsoft.com/office/drawing/2014/main" id="{9674B6D7-6BD2-5015-8EF2-7F7E50290F33}"/>
                </a:ext>
              </a:extLst>
            </p:cNvPr>
            <p:cNvSpPr/>
            <p:nvPr/>
          </p:nvSpPr>
          <p:spPr>
            <a:xfrm>
              <a:off x="8499594" y="1129726"/>
              <a:ext cx="10968474" cy="1442993"/>
            </a:xfrm>
            <a:prstGeom prst="roundRect">
              <a:avLst>
                <a:gd name="adj" fmla="val 11035"/>
              </a:avLst>
            </a:prstGeom>
            <a:solidFill>
              <a:srgbClr val="CEE1FF"/>
            </a:solidFill>
            <a:ln w="15875">
              <a:solidFill>
                <a:srgbClr val="1B5A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FC09E1-896B-688E-EA0F-8823F6B7B6FA}"/>
                </a:ext>
              </a:extLst>
            </p:cNvPr>
            <p:cNvSpPr txBox="1"/>
            <p:nvPr/>
          </p:nvSpPr>
          <p:spPr>
            <a:xfrm>
              <a:off x="8636754" y="1614166"/>
              <a:ext cx="10823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8B22CE9-9903-3E48-535C-29698AAD42E5}"/>
              </a:ext>
            </a:extLst>
          </p:cNvPr>
          <p:cNvSpPr txBox="1"/>
          <p:nvPr/>
        </p:nvSpPr>
        <p:spPr>
          <a:xfrm>
            <a:off x="6201785" y="1960031"/>
            <a:ext cx="6098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u="sng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30 г.+</a:t>
            </a:r>
          </a:p>
          <a:p>
            <a:r>
              <a:rPr lang="ru-RU" sz="2000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Перевозка отправлений в специализированном подвижном составе ВСМ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1F9264-CB00-F2FF-63A8-C430D8F87825}"/>
              </a:ext>
            </a:extLst>
          </p:cNvPr>
          <p:cNvSpPr txBox="1"/>
          <p:nvPr/>
        </p:nvSpPr>
        <p:spPr>
          <a:xfrm>
            <a:off x="196325" y="3590959"/>
            <a:ext cx="54871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1. Запуск перевозок корреспонденции в формате Экспресс-Л с автоматизацией процессов и повышением качества сервиса.</a:t>
            </a:r>
          </a:p>
          <a:p>
            <a:r>
              <a: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2. Подготовка бизнес-плана, заказ на проектирование подвижного состава </a:t>
            </a:r>
          </a:p>
          <a:p>
            <a:r>
              <a: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и инфраструктуры (распределительные центры, сервисные зоны и т.д.).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FB119D-C1D0-D988-3CB3-A0BA47EEA8F0}"/>
              </a:ext>
            </a:extLst>
          </p:cNvPr>
          <p:cNvSpPr txBox="1"/>
          <p:nvPr/>
        </p:nvSpPr>
        <p:spPr>
          <a:xfrm>
            <a:off x="6280568" y="3590958"/>
            <a:ext cx="62192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Запуск грузовых составов с введение </a:t>
            </a:r>
            <a:br>
              <a: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</a:br>
            <a:r>
              <a:rPr lang="ru-RU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в эксплуатацию сопутствующей инфраструктуры. </a:t>
            </a:r>
          </a:p>
        </p:txBody>
      </p:sp>
    </p:spTree>
    <p:extLst>
      <p:ext uri="{BB962C8B-B14F-4D97-AF65-F5344CB8AC3E}">
        <p14:creationId xmlns:p14="http://schemas.microsoft.com/office/powerpoint/2010/main" val="23989479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1">
      <a:dk1>
        <a:srgbClr val="000000"/>
      </a:dk1>
      <a:lt1>
        <a:srgbClr val="FEFEFE"/>
      </a:lt1>
      <a:dk2>
        <a:srgbClr val="1B5AB8"/>
      </a:dk2>
      <a:lt2>
        <a:srgbClr val="F3F7FF"/>
      </a:lt2>
      <a:accent1>
        <a:srgbClr val="1B5AB8"/>
      </a:accent1>
      <a:accent2>
        <a:srgbClr val="C5DBFF"/>
      </a:accent2>
      <a:accent3>
        <a:srgbClr val="2CAB94"/>
      </a:accent3>
      <a:accent4>
        <a:srgbClr val="3F80DD"/>
      </a:accent4>
      <a:accent5>
        <a:srgbClr val="5B9BD5"/>
      </a:accent5>
      <a:accent6>
        <a:srgbClr val="8895A8"/>
      </a:accent6>
      <a:hlink>
        <a:srgbClr val="519F7C"/>
      </a:hlink>
      <a:folHlink>
        <a:srgbClr val="002864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ИШ в работе" id="{DF171B4B-BD23-9841-964A-3A343D60B879}" vid="{BE3A594D-8DE6-EE49-BF8F-2500EBDD761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05.2026 Шаблон презентации ПИШ</Template>
  <TotalTime>171</TotalTime>
  <Words>522</Words>
  <Application>Microsoft Office PowerPoint</Application>
  <PresentationFormat>Widescreen</PresentationFormat>
  <Paragraphs>66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Inter</vt:lpstr>
      <vt:lpstr>Raleway</vt:lpstr>
      <vt:lpstr>Inter Medium</vt:lpstr>
      <vt:lpstr>Arial</vt:lpstr>
      <vt:lpstr>Тема Office</vt:lpstr>
      <vt:lpstr>«Скоростные перевозки грузов на ВСЖМ-1 Москва-СПБ»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 вектора развития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Leschishin</dc:creator>
  <cp:lastModifiedBy>W1zzK1 .</cp:lastModifiedBy>
  <cp:revision>34</cp:revision>
  <dcterms:created xsi:type="dcterms:W3CDTF">2026-05-13T09:09:19Z</dcterms:created>
  <dcterms:modified xsi:type="dcterms:W3CDTF">2026-06-11T07:28:17Z</dcterms:modified>
</cp:coreProperties>
</file>